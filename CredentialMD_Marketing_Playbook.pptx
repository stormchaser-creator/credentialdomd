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731520"/>
            <a:ext cx="2743200" cy="2743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-731520"/>
            <a:ext cx="2743200" cy="2743200"/>
          </a:xfrm>
          <a:prstGeom prst="rect">
            <a:avLst/>
          </a:prstGeom>
          <a:solidFill>
            <a:srgbClr val="0B1D2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5029200"/>
            <a:ext cx="3200400" cy="32004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-914400" y="5029200"/>
            <a:ext cx="3200400" cy="3200400"/>
          </a:xfrm>
          <a:prstGeom prst="rect">
            <a:avLst/>
          </a:prstGeom>
          <a:solidFill>
            <a:srgbClr val="0B1D2E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09688"/>
                </a:solidFill>
                <a:latin typeface="Trebuchet MS"/>
              </a:defRPr>
            </a:pPr>
            <a:r>
              <a:t>CREDENTIALMD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SOCIAL MEDIA MARKETING PLAYBOOK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108960"/>
            <a:ext cx="13716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 grassroots campaign strategy to reach every physician in America.</a:t>
            </a:r>
            <a:br/>
            <a:r>
              <a:t>Multi-channel. Multi-style. Value-first pricing.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Prepared for: Eric  |  February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86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9688"/>
                </a:solidFill>
                <a:latin typeface="Calibri"/>
              </a:defRPr>
            </a:pPr>
            <a:r>
              <a:t>Grassroots Launch Strategy  •  All Social Channels  •  Multi-Tone Campaigns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B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  <a:latin typeface="Trebuchet MS"/>
              </a:defRPr>
            </a:pPr>
            <a:r>
              <a:t>THE ELEVATOR PITCH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Trebuchet MS"/>
              </a:defRPr>
            </a:pPr>
            <a:r>
              <a:t>Your entire</a:t>
            </a:r>
            <a:br/>
            <a:r>
              <a:t>medical career.</a:t>
            </a:r>
            <a:br/>
            <a:r>
              <a:t>One app.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91840"/>
            <a:ext cx="91440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Licenses. CME. Privileges.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Insurance. Case logs. Health records.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All 50 states. MD &amp; DO.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Topic-level compliance. One tap to share.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457200"/>
            <a:ext cx="65836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0" y="457200"/>
            <a:ext cx="64008" cy="13258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594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E293B"/>
                </a:solidFill>
                <a:latin typeface="Calibri"/>
              </a:defRPr>
            </a:pPr>
            <a:r>
              <a:t>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594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Trebuchet MS"/>
              </a:defRPr>
            </a:pPr>
            <a:r>
              <a:t>Track Everything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00584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Licenses, DEA, board certs, CME, privileges, insurance, case logs, vaccinations, education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965960"/>
            <a:ext cx="65836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965960"/>
            <a:ext cx="64008" cy="13258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E293B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Trebuchet MS"/>
              </a:defRPr>
            </a:pPr>
            <a:r>
              <a:t>Know Your 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51460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State-by-state CME requirements with topic-specific mandates for MD and DO — all 50 states built 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3474720"/>
            <a:ext cx="65836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0" y="3474720"/>
            <a:ext cx="64008" cy="13258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36118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E293B"/>
                </a:solidFill>
                <a:latin typeface="Calibri"/>
              </a:defRPr>
            </a:pPr>
            <a:r>
              <a:t>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6118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Trebuchet MS"/>
              </a:defRPr>
            </a:pPr>
            <a:r>
              <a:t>Share Instantly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023359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One tap to email, text, or copy your credential packet to any hospital, insurer, or employer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0" y="4983479"/>
            <a:ext cx="65836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0" y="4983479"/>
            <a:ext cx="64008" cy="13258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0" y="5120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E293B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120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Trebuchet MS"/>
              </a:defRPr>
            </a:pPr>
            <a:r>
              <a:t>Mobile-First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532119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Built for physicians on the go — not a hospital IT portal you'll never open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C107"/>
                </a:solidFill>
                <a:latin typeface="Trebuchet MS"/>
              </a:defRPr>
            </a:pPr>
            <a:r>
              <a:t>PRICING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rebuchet MS"/>
              </a:defRPr>
            </a:pPr>
            <a:r>
              <a:t>"How much value can I add to their life?"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Not how much can we extract. How much can we give.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3566160" cy="4023360"/>
          </a:xfrm>
          <a:prstGeom prst="round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35661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88"/>
                </a:solidFill>
                <a:latin typeface="Trebuchet MS"/>
              </a:defRPr>
            </a:pPr>
            <a:r>
              <a:t>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Trebuchet MS"/>
              </a:rPr>
              <a:t>$0</a:t>
            </a:r>
            <a:r>
              <a:rPr sz="1400" b="0">
                <a:solidFill>
                  <a:srgbClr val="94A3B8"/>
                </a:solidFill>
                <a:latin typeface="Calibri"/>
              </a:rPr>
              <a:t>forever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✓  Track up to 5 credentials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050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✓  1 state CME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611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✓  Basic expiration 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171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✓  Document upload (3 docs)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69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Get physicians hooked on the value. No credit card. No trial expiration. Just usefulness.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377440"/>
            <a:ext cx="3566160" cy="4023360"/>
          </a:xfrm>
          <a:prstGeom prst="round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2377440"/>
            <a:ext cx="356616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606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Trebuchet MS"/>
              </a:defRPr>
            </a:pPr>
            <a:r>
              <a:t>PRO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0175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Trebuchet MS"/>
              </a:rPr>
              <a:t>$7.99</a:t>
            </a:r>
            <a:r>
              <a:rPr sz="1400" b="0">
                <a:solidFill>
                  <a:srgbClr val="94A3B8"/>
                </a:solidFill>
                <a:latin typeface="Calibri"/>
              </a:rPr>
              <a:t>/month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74903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✓  Unlimited credentials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0050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✓  All 50 states compliance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2611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✓  Topic-level CME tracking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5171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✓  Unlimited doc scanning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7731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✓  Quick Share (email/text/copy)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029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✓  Priority notifications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669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The sweet spot. Less than a coffee a week. Less than Netflix. More valuable than both combined.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2377440"/>
            <a:ext cx="3566160" cy="4023360"/>
          </a:xfrm>
          <a:prstGeom prst="round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2377440"/>
            <a:ext cx="3566160" cy="54864"/>
          </a:xfrm>
          <a:prstGeom prst="rect">
            <a:avLst/>
          </a:prstGeom>
          <a:solidFill>
            <a:srgbClr val="26C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2606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C6AA"/>
                </a:solidFill>
                <a:latin typeface="Trebuchet MS"/>
              </a:defRPr>
            </a:pPr>
            <a:r>
              <a:t>RESIDENT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0175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Trebuchet MS"/>
              </a:rPr>
              <a:t>$3.99</a:t>
            </a:r>
            <a:r>
              <a:rPr sz="1400" b="0">
                <a:solidFill>
                  <a:srgbClr val="94A3B8"/>
                </a:solidFill>
                <a:latin typeface="Calibri"/>
              </a:rPr>
              <a:t>/month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74903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✓  Full PRO features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0050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✓  Verified .edu email required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2611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✓  Perfect for new physicians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5171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✓  Build habits early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669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Hook them during residency. They'll never leave. Lifetime customer acquisition at half price.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492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Annual option: $79.99/yr PRO (save 17%)  •  $39.99/yr Resident (save 17%)  •  Group rates for practices: $5.99/user/mo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  <a:latin typeface="Trebuchet MS"/>
              </a:defRPr>
            </a:pPr>
            <a: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Trebuchet MS"/>
              </a:defRPr>
            </a:pPr>
            <a:r>
              <a:t>Nobody does what we do. Here's why.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56032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Trebuchet MS"/>
              </a:defRPr>
            </a:pPr>
            <a:r>
              <a:t>Feature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554480"/>
            <a:ext cx="155448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600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Trebuchet MS"/>
              </a:defRPr>
            </a:pPr>
            <a:r>
              <a:t>CredentialMD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554480"/>
            <a:ext cx="155448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600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Trebuchet MS"/>
              </a:defRPr>
            </a:pPr>
            <a:r>
              <a:t>CE Broker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554480"/>
            <a:ext cx="155448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00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Trebuchet MS"/>
              </a:defRPr>
            </a:pPr>
            <a:r>
              <a:t>Mocingbird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554480"/>
            <a:ext cx="155448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1600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Trebuchet MS"/>
              </a:defRPr>
            </a:pPr>
            <a:r>
              <a:t>CertAlert+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79" y="1554480"/>
            <a:ext cx="182880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79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Trebuchet MS"/>
              </a:defRPr>
            </a:pPr>
            <a:r>
              <a:t>Enterprise</a:t>
            </a:r>
            <a:br/>
            <a:r>
              <a:t>(Symplr etc.)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148840"/>
            <a:ext cx="110642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16712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All credentials in one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1671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1671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1671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59" y="21671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79" y="21671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514600"/>
            <a:ext cx="1106424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53288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Built for individual physicians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25328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25328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93B"/>
                </a:solidFill>
                <a:latin typeface="Calibri"/>
              </a:defRPr>
            </a:pPr>
            <a:r>
              <a:t>Partial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5328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59" y="25328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79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2880360"/>
            <a:ext cx="110642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289864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Mobile-first design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28986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28986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28986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59" y="28986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79" y="28986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246120"/>
            <a:ext cx="1106424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26440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50-state CME topic compliance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32644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0" y="32644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93B"/>
                </a:solidFill>
                <a:latin typeface="Calibri"/>
              </a:defRPr>
            </a:pPr>
            <a:r>
              <a:t>Partial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32644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59" y="32644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79" y="32644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3611879"/>
            <a:ext cx="110642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363016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MD + DO specific requirements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0" y="36301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6320" y="36301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36301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59" y="36301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84079" y="36301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3977639"/>
            <a:ext cx="1106424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3995927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Hospital privileges tracking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0" y="3995927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46320" y="3995927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0" y="3995927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59" y="3995927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84079" y="3995927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4343400"/>
            <a:ext cx="110642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" y="436168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Insurance / malpractice tracking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00400" y="43616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46320" y="43616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2240" y="43616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38159" y="43616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84079" y="43616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4709160"/>
            <a:ext cx="1106424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" y="472744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Case log tracking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00400" y="47274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46320" y="47274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92240" y="47274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59" y="47274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784079" y="47274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509320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Health records (TB, vaccines)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200400" y="50932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46320" y="50932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92240" y="50932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38159" y="50932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784079" y="50932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0080" y="545896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One-tap credential sharing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00400" y="54589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46320" y="54589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92240" y="54589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138159" y="54589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784079" y="54589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0080" y="582472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Price (individual)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200400" y="5824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93B"/>
                </a:solidFill>
                <a:latin typeface="Calibri"/>
              </a:defRPr>
            </a:pPr>
            <a:r>
              <a:t>$7.99/mo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846320" y="5824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93B"/>
                </a:solidFill>
                <a:latin typeface="Calibri"/>
              </a:defRPr>
            </a:pPr>
            <a:r>
              <a:t>$50–100/yr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92240" y="5824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93B"/>
                </a:solidFill>
                <a:latin typeface="Calibri"/>
              </a:defRPr>
            </a:pPr>
            <a:r>
              <a:t>$199/yr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138159" y="5824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93B"/>
                </a:solidFill>
                <a:latin typeface="Calibri"/>
              </a:defRPr>
            </a:pPr>
            <a:r>
              <a:t>Free*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784079" y="58247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93B"/>
                </a:solidFill>
                <a:latin typeface="Calibri"/>
              </a:defRPr>
            </a:pPr>
            <a:r>
              <a:t>N/A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*CertAlert+ is free but only tracks basic license expiration — no compliance, no sharing, no privileges, no insurance.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6B"/>
                </a:solidFill>
                <a:latin typeface="Trebuchet MS"/>
              </a:defRPr>
            </a:pPr>
            <a:r>
              <a:t>CAMPAIGN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rebuchet MS"/>
              </a:defRPr>
            </a:pPr>
            <a:r>
              <a:t>Six Distinct Marketing Voices</a:t>
            </a:r>
            <a:br/>
            <a:r>
              <a:t>One Unified Brand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566160" cy="2103120"/>
          </a:xfrm>
          <a:prstGeom prst="round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64008" cy="21031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148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THE HUMOR CAMPAIGN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68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Calibri"/>
              </a:defRPr>
            </a:pPr>
            <a:r>
              <a:t>"Credential Comedy"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Self-deprecating physician humor about credentialing chaos. Memes, reels, relatable pain points turned funny.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011680"/>
            <a:ext cx="3566160" cy="2103120"/>
          </a:xfrm>
          <a:prstGeom prst="round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2011680"/>
            <a:ext cx="64008" cy="21031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148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THE PROFESSIONAL CAMPAIGN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468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88"/>
                </a:solidFill>
                <a:latin typeface="Calibri"/>
              </a:defRPr>
            </a:pPr>
            <a:r>
              <a:t>"Trust Your Credentials"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803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Clean, authoritative, data-driven. LinkedIn articles, white papers, CME compliance statistics.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011680"/>
            <a:ext cx="3566160" cy="2103120"/>
          </a:xfrm>
          <a:prstGeom prst="round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2011680"/>
            <a:ext cx="64008" cy="210312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❤️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148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THE EMOTIONAL CAMPAIGN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2468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9F9"/>
                </a:solidFill>
                <a:latin typeface="Calibri"/>
              </a:defRPr>
            </a:pPr>
            <a:r>
              <a:t>"Why You Became a Doctor"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8803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Story-driven content about the human cost of admin burden. Real physician testimonials and burnout stories.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389120"/>
            <a:ext cx="3566160" cy="2103120"/>
          </a:xfrm>
          <a:prstGeom prst="round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389120"/>
            <a:ext cx="64008" cy="21031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526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526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THE EDUCATIONAL CAMPAIGN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846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107"/>
                </a:solidFill>
                <a:latin typeface="Calibri"/>
              </a:defRPr>
            </a:pPr>
            <a:r>
              <a:t>"Did You Know?"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2578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State CME requirement deep dives, compliance tips, how-to guides. Position CredentialMD as the expert.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4389120"/>
            <a:ext cx="3566160" cy="2103120"/>
          </a:xfrm>
          <a:prstGeom prst="round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80" y="4389120"/>
            <a:ext cx="64008" cy="2103120"/>
          </a:xfrm>
          <a:prstGeom prst="rect">
            <a:avLst/>
          </a:prstGeom>
          <a:solidFill>
            <a:srgbClr val="26C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4526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4526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THE COMMUNITY CAMPAIGN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4846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6C6AA"/>
                </a:solidFill>
                <a:latin typeface="Calibri"/>
              </a:defRPr>
            </a:pPr>
            <a:r>
              <a:t>"Physicians Helping Physicians"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52578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Grassroots word-of-mouth. Referral program. Ambassador physicians. Medical school outreach.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4389120"/>
            <a:ext cx="3566160" cy="2103120"/>
          </a:xfrm>
          <a:prstGeom prst="round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38160" y="4389120"/>
            <a:ext cx="64008" cy="2103120"/>
          </a:xfrm>
          <a:prstGeom prst="rect">
            <a:avLst/>
          </a:prstGeom>
          <a:solidFill>
            <a:srgbClr val="F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4526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400" y="4526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THE URGENCY CAMPAIGN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5400" y="4846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A65"/>
                </a:solidFill>
                <a:latin typeface="Calibri"/>
              </a:defRPr>
            </a:pPr>
            <a:r>
              <a:t>"Don't Let It Lapse"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52578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Fear-based (tasteful). Real consequences of expired credentials. Time-sensitive content around renewal seasons.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37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THE HUMOR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594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6B6B"/>
                </a:solidFill>
                <a:latin typeface="Calibri"/>
              </a:defRPr>
            </a:pPr>
            <a:r>
              <a:t>"Credential Comedy" — Because if we don't laugh, we'll cry into our expired DEA registration.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56616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56616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Trebuchet MS"/>
              </a:defRPr>
            </a:pPr>
            <a:r>
              <a:t>TWITTER / 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20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88"/>
                </a:solidFill>
                <a:latin typeface="Calibri"/>
              </a:defRPr>
            </a:pPr>
            <a:r>
              <a:t>@CredentialMD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4028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POV: You're a surgeon who can remove a gallbladder in 45 minutes but it takes you 3 weeks to find your DEA certificate.</a:t>
            </a:r>
            <a:br/>
            <a:br/>
            <a:r>
              <a:t>There's an app for that. 💊</a:t>
            </a:r>
            <a:br/>
            <a:br/>
            <a:r>
              <a:t>#MedTwitter #PhysicianLife #CredentialMD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74920"/>
            <a:ext cx="356616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212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Best for: Viral reach, physician Twitter community, retweet culture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371600"/>
            <a:ext cx="356616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371600"/>
            <a:ext cx="356616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417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Trebuchet MS"/>
              </a:defRPr>
            </a:pPr>
            <a:r>
              <a:t>INSTAGRAM REEL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920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88"/>
                </a:solidFill>
                <a:latin typeface="Calibri"/>
              </a:defRPr>
            </a:pPr>
            <a:r>
              <a:t>Script concept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24028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[Camera: Doctor in white coat, exhausted at desk surrounded by papers]</a:t>
            </a:r>
            <a:br/>
            <a:br/>
            <a:r>
              <a:t>"My hospital asked for my credentials..."</a:t>
            </a:r>
            <a:br/>
            <a:br/>
            <a:r>
              <a:t>[Cut to: scrolling through 47 emails]</a:t>
            </a:r>
            <a:br/>
            <a:r>
              <a:t>[Cut to: digging through filing cabinet]</a:t>
            </a:r>
            <a:br/>
            <a:r>
              <a:t>[Cut to: calling the state board on hold]</a:t>
            </a:r>
            <a:br/>
            <a:br/>
            <a:r>
              <a:t>[Cut to: Opens CredentialMD, taps Share]</a:t>
            </a:r>
            <a:br/>
            <a:br/>
            <a:r>
              <a:t>"...done."</a:t>
            </a:r>
            <a:br/>
            <a:br/>
            <a:r>
              <a:t>[Text overlay: Your credentials. One app. One tap.]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5074920"/>
            <a:ext cx="356616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5212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Best for: Visual storytelling, younger physicians, residency-age docs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371600"/>
            <a:ext cx="356616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1371600"/>
            <a:ext cx="356616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1417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Trebuchet MS"/>
              </a:defRPr>
            </a:pPr>
            <a:r>
              <a:t>TIKTOK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1920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88"/>
                </a:solidFill>
                <a:latin typeface="Calibri"/>
              </a:defRPr>
            </a:pPr>
            <a:r>
              <a:t>Trending audio overlay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224028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Use trending "It's giving..." audio:</a:t>
            </a:r>
            <a:br/>
            <a:br/>
            <a:r>
              <a:t>"It's giving... $240/year for an app that only tracks CME"</a:t>
            </a:r>
            <a:br/>
            <a:r>
              <a:t>[disappointed face]</a:t>
            </a:r>
            <a:br/>
            <a:br/>
            <a:r>
              <a:t>"It's giving... CredentialMD for $7.99/mo and it tracks EVERYTHING"</a:t>
            </a:r>
            <a:br/>
            <a:r>
              <a:t>[chef's kiss]</a:t>
            </a:r>
            <a:br/>
            <a:br/>
            <a:r>
              <a:t>#MedTok #ResidentLife #CredentialMD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5074920"/>
            <a:ext cx="356616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80" y="5212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Best for: Gen Z physicians, residents, medical students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B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035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Trebuchet MS"/>
              </a:defRPr>
            </a:pPr>
            <a:r>
              <a:t>HUMOR CAMPAIGN POSTING CADENCE: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3550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Twitter: 3–5x/week  •  Instagram Reels: 2x/week  •  TikTok: 3x/week  •  Meme posts: Daily across all platforms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37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THE PROFESSIONAL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594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9688"/>
                </a:solidFill>
                <a:latin typeface="Calibri"/>
              </a:defRPr>
            </a:pPr>
            <a:r>
              <a:t>"Trust Your Credentials" — Authority, data, and quiet confidence.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56616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566160" cy="4114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Trebuchet MS"/>
              </a:defRPr>
            </a:pPr>
            <a:r>
              <a:t>LINKEDIN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20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88"/>
                </a:solidFill>
                <a:latin typeface="Calibri"/>
              </a:defRPr>
            </a:pPr>
            <a:r>
              <a:t>Long-form article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4028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TITLE: "The Hidden Cost of Credential Chaos: Why 67% of Physicians Miss a Renewal Deadline"</a:t>
            </a:r>
            <a:br/>
            <a:br/>
            <a:r>
              <a:t>Opening hook: A survey found that the average physician spends 15+ hours per year on credential paperwork. That's 2 full clinic days.</a:t>
            </a:r>
            <a:br/>
            <a:br/>
            <a:r>
              <a:t>Body: Walk through the real consequences — lapsed privileges, delayed reappointments, insurance gaps. Cite NAMSS data on credentialing timelines.</a:t>
            </a:r>
            <a:br/>
            <a:br/>
            <a:r>
              <a:t>CTA: "CredentialMD was built by someone who was tired of the chaos. Try it free."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74920"/>
            <a:ext cx="35661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212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Target: Attending physicians, department chairs, medical directors, practice owners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371600"/>
            <a:ext cx="356616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371600"/>
            <a:ext cx="3566160" cy="4114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417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Trebuchet MS"/>
              </a:defRPr>
            </a:pPr>
            <a:r>
              <a:t>EMAIL NEWSLETTER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920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88"/>
                </a:solidFill>
                <a:latin typeface="Calibri"/>
              </a:defRPr>
            </a:pPr>
            <a:r>
              <a:t>"The Compliance Brief"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24028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Monthly newsletter with:</a:t>
            </a:r>
            <a:br/>
            <a:br/>
            <a:r>
              <a:t>• State CME deadline reminders ("March deadlines: TX, FL, CA renewal cycles")</a:t>
            </a:r>
            <a:br/>
            <a:br/>
            <a:r>
              <a:t>• Regulatory changes ("New opioid CME requirement in Ohio — here's what you need")</a:t>
            </a:r>
            <a:br/>
            <a:br/>
            <a:r>
              <a:t>• Compliance tips ("3 things your credentialing office wishes you knew")</a:t>
            </a:r>
            <a:br/>
            <a:br/>
            <a:r>
              <a:t>• Soft CTA to CredentialMD features</a:t>
            </a:r>
            <a:br/>
            <a:br/>
            <a:r>
              <a:t>Build an email list via free CME checklists as lead magnets.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5074920"/>
            <a:ext cx="35661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5212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Target: All physicians. Free value builds trust before any ask.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371600"/>
            <a:ext cx="356616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1371600"/>
            <a:ext cx="3566160" cy="4114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1417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Trebuchet MS"/>
              </a:defRPr>
            </a:pPr>
            <a:r>
              <a:t>PODCAST ADS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1920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88"/>
                </a:solidFill>
                <a:latin typeface="Calibri"/>
              </a:defRPr>
            </a:pPr>
            <a:r>
              <a:t>Medical podcast sponsorships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224028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30-second mid-roll scripts for physician podcasts:</a:t>
            </a:r>
            <a:br/>
            <a:br/>
            <a:r>
              <a:t>"This episode is brought to you by CredentialMD. If you practice in multiple states or you're tired of spreadsheets tracking your CME, licenses, and privileges — CredentialMD puts it all in one place. State-by-state compliance for MDs and DOs. $7.99 a month. credentialmd.com."</a:t>
            </a:r>
            <a:br/>
            <a:br/>
            <a:r>
              <a:t>Target shows: Physician Side Gig, Kevin MD, The Curbsiders, Doctors Unbound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5074920"/>
            <a:ext cx="35661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80" y="5212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Target: Mid-career physicians who listen during commute. High-trust medium.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B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035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88"/>
                </a:solidFill>
                <a:latin typeface="Trebuchet MS"/>
              </a:defRPr>
            </a:pPr>
            <a:r>
              <a:t>PROFESSIONAL CAMPAIGN CADENCE: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3550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LinkedIn: 2 articles/month + 3 short posts/week  •  Newsletter: Monthly  •  Podcast ads: 4–6 shows, rotating quarterly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Calibri"/>
              </a:defRPr>
            </a:pPr>
            <a:r>
              <a:t>❤️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THE EMOTIONAL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79F9"/>
                </a:solidFill>
                <a:latin typeface="Calibri"/>
              </a:defRPr>
            </a:pPr>
            <a:r>
              <a:t>"Why You Became a Doctor" — You didn't go to med school to manage paperwork.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303520" cy="4754880"/>
          </a:xfrm>
          <a:prstGeom prst="round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79F9"/>
                </a:solidFill>
                <a:latin typeface="Trebuchet MS"/>
              </a:defRPr>
            </a:pPr>
            <a:r>
              <a:t>INSTAGRAM / FACEBOOK — Testimonial Series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"I missed my daughter's recital because I was on hold with the state medical board trying to verify my license renewal went through. I'm a cardiologist. I save lives. But I almost lost my privileges because a fax didn't go through."</a:t>
            </a:r>
            <a:br/>
            <a:br/>
            <a:r>
              <a:t>— Dr. Sarah M., Cardiology, practicing in 3 states</a:t>
            </a:r>
            <a:br/>
            <a:br/>
            <a:r>
              <a:t>"During my first year as an attending, I got a letter saying my malpractice had lapsed. Nobody told me. I found out when I tried to schedule a case. I was off the OR schedule for two weeks."</a:t>
            </a:r>
            <a:br/>
            <a:br/>
            <a:r>
              <a:t>— Dr. James R., General Surgery</a:t>
            </a:r>
            <a:br/>
            <a:br/>
            <a:r>
              <a:t>These are real stories. CredentialMD exists because no physician should lose sleep — or OR time — over paperwork.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5486400" cy="2103120"/>
          </a:xfrm>
          <a:prstGeom prst="round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79F9"/>
                </a:solidFill>
                <a:latin typeface="Trebuchet MS"/>
              </a:defRPr>
            </a:pPr>
            <a:r>
              <a:t>CAMPAIGN ELEMENTS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• Video testimonials from real physicians (30–60 sec)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• "Before CredentialMD / After" carousel posts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• Burnout statistics overlaid on stock physician photos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• Quote graphics: real physician frustrations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• Partner with physician wellness organizations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• Feature in burnout/wellness podcast episodes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794760"/>
            <a:ext cx="5486400" cy="2423160"/>
          </a:xfrm>
          <a:prstGeom prst="round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9776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79F9"/>
                </a:solidFill>
                <a:latin typeface="Trebuchet MS"/>
              </a:defRPr>
            </a:pPr>
            <a:r>
              <a:t>PLATFORMS &amp;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3434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• Instagram: Carousel stories + video testimonials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• Facebook: Physician groups (150K+ member groups exist)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• YouTube: 2–3 min mini-docs on physician admin burden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• Reddit: r/medicine, r/Residency (authentic, not salesy)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• Doximity: Physician-only network, high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577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Key insight: Physicians trust other physicians. Every piece of emotional content must feature a REAL doctor, not actors.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B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65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EDUCATIONAL CAMPAIGN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C107"/>
                </a:solidFill>
                <a:latin typeface="Calibri"/>
              </a:defRPr>
            </a:pPr>
            <a:r>
              <a:t>"Did You Know?" — Free knowledge that builds authority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  <a:latin typeface="Trebuchet MS"/>
              </a:defRPr>
            </a:pPr>
            <a:r>
              <a:t>State CME Infographics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"Did you know California MDs need 12 hours of pain management CME?" Visual breakdowns of state requirements shared as carousels on Instagram and Twitter.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  <a:latin typeface="Trebuchet MS"/>
              </a:defRPr>
            </a:pPr>
            <a:r>
              <a:t>YouTube Explainer Series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"CME Compliance in 90 Seconds" — short, punchy videos walking through each state's unique requirements. SEO goldmine.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  <a:latin typeface="Trebuchet MS"/>
              </a:defRPr>
            </a:pPr>
            <a:r>
              <a:t>Free Downloadable Checklists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576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"Your [State] CME Compliance Checklist" — PDF lead magnets. Collect emails. Nurture with newsletter. Convert to app users.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89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  <a:latin typeface="Trebuchet MS"/>
              </a:defRPr>
            </a:pPr>
            <a:r>
              <a:t>Blog / SEO Content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634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Long-tail keywords: "Texas CME requirements 2026", "DO vs MD CME rules California". CredentialMD becomes THE search result.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293B"/>
                </a:solidFill>
                <a:latin typeface="Calibri"/>
              </a:defRPr>
            </a:pPr>
            <a:r>
              <a:t>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Trebuchet MS"/>
              </a:defRPr>
            </a:pPr>
            <a:r>
              <a:t>COMMUNITY CAMPAIGN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914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C6AA"/>
                </a:solidFill>
                <a:latin typeface="Calibri"/>
              </a:defRPr>
            </a:pPr>
            <a:r>
              <a:t>"Physicians Helping Physicians" — Word of mouth at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  <a:latin typeface="Trebuchet MS"/>
              </a:defRPr>
            </a:pPr>
            <a:r>
              <a:t>Referral Program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6459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"Give a month, get a month." Every referral gives both the referrer and the new user a free month of PRO. Simple. Viral-capable.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377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  <a:latin typeface="Trebuchet MS"/>
              </a:defRPr>
            </a:pPr>
            <a:r>
              <a:t>Physician Ambassadors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6517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Recruit 50 physicians across specialties as brand ambassadors. Free lifetime PRO. They post monthly. Authentic reach into every specialty.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383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  <a:latin typeface="Trebuchet MS"/>
              </a:defRPr>
            </a:pPr>
            <a:r>
              <a:t>Residency Program Outreach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6576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Partner with residency programs to offer free accounts to all residents. Present at orientation. Build the habit before they're attendings.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389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  <a:latin typeface="Trebuchet MS"/>
              </a:defRPr>
            </a:pPr>
            <a:r>
              <a:t>Medical Conference Presence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6634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Not big booths — grassroots. QR code stickers. "Scan to never lose track of a credential again." Hallway marketing at AMA, ACEP, AAP.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20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THE URGENCY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777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8A65"/>
                </a:solidFill>
                <a:latin typeface="Calibri"/>
              </a:defRPr>
            </a:pPr>
            <a:r>
              <a:t>"Don't Let It Lapse" — Real consequences. Real urgency. Tasteful fear.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486400" cy="4846320"/>
          </a:xfrm>
          <a:prstGeom prst="round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A65"/>
                </a:solidFill>
                <a:latin typeface="Trebuchet MS"/>
              </a:defRPr>
            </a:pPr>
            <a:r>
              <a:t>SEASONAL URGENCY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107"/>
                </a:solidFill>
                <a:latin typeface="Trebuchet MS"/>
              </a:defRPr>
            </a:pPr>
            <a:r>
              <a:t>Q1 — January/February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40279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"New year, new renewal cycle. 23 states have CME deadlines in Q1. Do you know yours?"</a:t>
            </a:r>
            <a:br/>
            <a:r>
              <a:t>→ Link to free state deadline checker (in-app)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107"/>
                </a:solidFill>
                <a:latin typeface="Trebuchet MS"/>
              </a:defRPr>
            </a:pPr>
            <a:r>
              <a:t>Q2 — DEA Renewal Season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"Your DEA registration expires on your birthday month. When's yours?"</a:t>
            </a:r>
            <a:br/>
            <a:r>
              <a:t>→ Campaign around DEA renewal awareness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86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107"/>
                </a:solidFill>
                <a:latin typeface="Trebuchet MS"/>
              </a:defRPr>
            </a:pPr>
            <a:r>
              <a:t>Q3 — Hospital Reappointment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605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"Privileges expire. Careers pause. Don't find out the hard way."</a:t>
            </a:r>
            <a:br/>
            <a:r>
              <a:t>→ Stories of real reappointment delays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46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107"/>
                </a:solidFill>
                <a:latin typeface="Trebuchet MS"/>
              </a:defRPr>
            </a:pPr>
            <a:r>
              <a:t>Q4 — Year-End Push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206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"12 days of credentials" holiday countdown.</a:t>
            </a:r>
            <a:br/>
            <a:r>
              <a:t>Each day highlights a different credential type + tip.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371600"/>
            <a:ext cx="5303520" cy="4846320"/>
          </a:xfrm>
          <a:prstGeom prst="round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5544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6B"/>
                </a:solidFill>
                <a:latin typeface="Trebuchet MS"/>
              </a:defRPr>
            </a:pPr>
            <a:r>
              <a:t>MEME &amp; VIRAL CONTENT IDEAS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96596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alibri"/>
              </a:defRPr>
            </a:pPr>
            <a:r>
              <a:t>"Distracted Boyfriend" meme:</a:t>
            </a:r>
            <a:br/>
            <a:r>
              <a:t>Boyfriend = Physician</a:t>
            </a:r>
            <a:br/>
            <a:r>
              <a:t>Girlfriend = Actual patient care</a:t>
            </a:r>
            <a:br/>
            <a:r>
              <a:t>Other woman = Credentialing paperwork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2743200"/>
            <a:ext cx="4114800" cy="914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834639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alibri"/>
              </a:defRPr>
            </a:pPr>
            <a:r>
              <a:t>"This is fine" dog:</a:t>
            </a:r>
            <a:br/>
            <a:r>
              <a:t>Doctor sitting in burning room labeled</a:t>
            </a:r>
            <a:br/>
            <a:r>
              <a:t>"3 expired credentials, 2 lapsed CME states,</a:t>
            </a:r>
            <a:br/>
            <a:r>
              <a:t>1 missing TB test"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3611879"/>
            <a:ext cx="4114800" cy="914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70332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alibri"/>
              </a:defRPr>
            </a:pPr>
            <a:r>
              <a:t>"Drakeposting":</a:t>
            </a:r>
            <a:br/>
            <a:r>
              <a:t>Drake rejecting: Paying $199/yr for CME tracking only</a:t>
            </a:r>
            <a:br/>
            <a:r>
              <a:t>Drake approving: $7.99/mo for EVERYTHING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4480559"/>
            <a:ext cx="4114800" cy="914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57200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alibri"/>
              </a:defRPr>
            </a:pPr>
            <a:r>
              <a:t>"Astronaut meme":</a:t>
            </a:r>
            <a:br/>
            <a:r>
              <a:t>"Wait, my license expires next week?"</a:t>
            </a:r>
            <a:br/>
            <a:r>
              <a:t>"Always has been."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5349240"/>
            <a:ext cx="4114800" cy="914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544068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alibri"/>
              </a:defRPr>
            </a:pPr>
            <a:r>
              <a:t>"Expanding brain":</a:t>
            </a:r>
            <a:br/>
            <a:r>
              <a:t>1. Spreadsheet for credentials</a:t>
            </a:r>
            <a:br/>
            <a:r>
              <a:t>2. Filing cabinet</a:t>
            </a:r>
            <a:br/>
            <a:r>
              <a:t>3. Asking your credentialing coordinator</a:t>
            </a:r>
            <a:br/>
            <a:r>
              <a:t>4. CredentialMD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  <a:latin typeface="Trebuchet MS"/>
              </a:defRPr>
            </a:pPr>
            <a:r>
              <a:t>CHANNEL-BY-CHANNEL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Trebuchet MS"/>
              </a:defRPr>
            </a:pPr>
            <a:r>
              <a:t>Where Physicians Actually Are</a:t>
            </a:r>
            <a:br/>
            <a:r>
              <a:t>(And What Works on Each Platform)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1247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4864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Trebuchet MS"/>
              </a:defRPr>
            </a:pPr>
            <a:r>
              <a:t>Twitter / 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852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580K+ physicians on #MedTwitter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691640"/>
            <a:ext cx="5943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Memes, CME tips, thread-style compliance guides, engagement with medical influencers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7556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3–5x/week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11247120" cy="5669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240280"/>
            <a:ext cx="54864" cy="566928"/>
          </a:xfrm>
          <a:prstGeom prst="rect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86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Trebuchet MS"/>
              </a:defRPr>
            </a:pPr>
            <a:r>
              <a:t>Instagram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328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Visual-first physician community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286000"/>
            <a:ext cx="5943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Reels (humor + educational), carousels (state requirements), testimonial stories, before/after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3500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1306C"/>
                </a:solidFill>
                <a:latin typeface="Calibri"/>
              </a:defRPr>
            </a:pPr>
            <a:r>
              <a:t>5x/week + daily stories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34640"/>
            <a:ext cx="11247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834640"/>
            <a:ext cx="54864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8803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Trebuchet MS"/>
              </a:defRPr>
            </a:pPr>
            <a:r>
              <a:t>TikTok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12724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Fastest-growing for young MDs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2880360"/>
            <a:ext cx="5943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Trending audio memes, "day in the life" with CredentialMD, quick tips, resident-focused humor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94436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3–4x/week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429000"/>
            <a:ext cx="11247120" cy="5669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429000"/>
            <a:ext cx="54864" cy="566928"/>
          </a:xfrm>
          <a:prstGeom prst="rect">
            <a:avLst/>
          </a:prstGeom>
          <a:solidFill>
            <a:srgbClr val="00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4747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Trebuchet MS"/>
              </a:defRPr>
            </a:pPr>
            <a:r>
              <a:t>LinkedIn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72160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Professional physician network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3474720"/>
            <a:ext cx="5943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Long-form articles, compliance data, thought leadership, practice owner content, CME regulation updates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5387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7B5"/>
                </a:solidFill>
                <a:latin typeface="Calibri"/>
              </a:defRPr>
            </a:pPr>
            <a:r>
              <a:t>2–3x/week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023360"/>
            <a:ext cx="11247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023360"/>
            <a:ext cx="54864" cy="566928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0690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Trebuchet MS"/>
              </a:defRPr>
            </a:pPr>
            <a:r>
              <a:t>Facebook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3159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150K+ in physician groups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4069080"/>
            <a:ext cx="5943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Group participation (not ads), testimonials, longer video content, community building, parent company presence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1330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877F2"/>
                </a:solidFill>
                <a:latin typeface="Calibri"/>
              </a:defRPr>
            </a:pPr>
            <a:r>
              <a:t>3x/week + group engagement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617720"/>
            <a:ext cx="11247120" cy="5669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4617720"/>
            <a:ext cx="54864" cy="56692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6634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Trebuchet MS"/>
              </a:defRPr>
            </a:pPr>
            <a:r>
              <a:t>YouTube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91032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Evergreen search content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4560" y="4663440"/>
            <a:ext cx="5943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"CME Requirements by State" series, app walkthroughs, physician interviews, SEO-optimized how-tos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7274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0000"/>
                </a:solidFill>
                <a:latin typeface="Calibri"/>
              </a:defRPr>
            </a:pPr>
            <a:r>
              <a:t>2x/month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212080"/>
            <a:ext cx="11247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5212080"/>
            <a:ext cx="54864" cy="566928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2578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Trebuchet MS"/>
              </a:defRPr>
            </a:pPr>
            <a:r>
              <a:t>Reddit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5046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r/medicine, r/Residency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94560" y="5257800"/>
            <a:ext cx="5943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Authentic participation, NOT advertising. Answer credentialing questions. Be helpful. Mention app only when genuinely relevant.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53218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4500"/>
                </a:solidFill>
                <a:latin typeface="Calibri"/>
              </a:defRPr>
            </a:pPr>
            <a:r>
              <a:t>Ongoing organic presence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806440"/>
            <a:ext cx="11247120" cy="5669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5806440"/>
            <a:ext cx="54864" cy="5669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58521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Trebuchet MS"/>
              </a:defRPr>
            </a:pPr>
            <a:r>
              <a:t>Doximity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609904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Physician-only network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94560" y="5852160"/>
            <a:ext cx="5943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Sponsored articles, physician surveys, credential management tips. High trust, low noise, premium audience.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591616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88"/>
                </a:solidFill>
                <a:latin typeface="Calibri"/>
              </a:defRPr>
            </a:pPr>
            <a:r>
              <a:t>1–2x/month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79F9"/>
                </a:solidFill>
                <a:latin typeface="Trebuchet MS"/>
              </a:defRPr>
            </a:pPr>
            <a:r>
              <a:t>CULTURAL INROADS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Meeting Physicians Where They Are</a:t>
            </a:r>
            <a:br/>
            <a:r>
              <a:t>Across Communities and Cultures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11247120" cy="914400"/>
          </a:xfrm>
          <a:prstGeom prst="round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64008" cy="914400"/>
          </a:xfrm>
          <a:prstGeom prst="rect">
            <a:avLst/>
          </a:prstGeom>
          <a:solidFill>
            <a:srgbClr val="26C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6276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6C6AA"/>
                </a:solidFill>
                <a:latin typeface="Trebuchet MS"/>
              </a:defRPr>
            </a:pPr>
            <a:r>
              <a:t>RESIDENCY CULTURE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627632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alibri"/>
              </a:defRPr>
            </a:pPr>
            <a:r>
              <a:t>Residents are the most overworked, underpaid, and credential-burdened physicians. They're also digital natives who adopt apps fast.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627632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Free or $3.99/mo Resident tier  •  Orientation presentations  •  Partner with GME offices  •  Memes targeting 80-hour weeks + credential chaos  •  "Your program tracks your hours. We track everything else."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60320"/>
            <a:ext cx="11247120" cy="914400"/>
          </a:xfrm>
          <a:prstGeom prst="round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64008" cy="914400"/>
          </a:xfrm>
          <a:prstGeom prst="rect">
            <a:avLst/>
          </a:prstGeom>
          <a:solidFill>
            <a:srgbClr val="26C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33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6334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6C6AA"/>
                </a:solidFill>
                <a:latin typeface="Trebuchet MS"/>
              </a:defRPr>
            </a:pPr>
            <a:r>
              <a:t>INTERNATIONAL MEDICAL GRADUATES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633472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alibri"/>
              </a:defRPr>
            </a:pPr>
            <a:r>
              <a:t>IMGs navigate the most complex credentialing path of any physician. Multiple verifications, ECFMG, state licensing — they need this more than anyone.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633472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Content in physician communities for IMGs  •  Guides: "IMG Credentialing Checklist"  •  Partner with IMG advocacy orgs  •  Testimonials from IMG physicians  •  ECFMG + USMLE tracking 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66160"/>
            <a:ext cx="11247120" cy="914400"/>
          </a:xfrm>
          <a:prstGeom prst="round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566160"/>
            <a:ext cx="64008" cy="914400"/>
          </a:xfrm>
          <a:prstGeom prst="rect">
            <a:avLst/>
          </a:prstGeom>
          <a:solidFill>
            <a:srgbClr val="26C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6393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👩‍⚕️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6393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6C6AA"/>
                </a:solidFill>
                <a:latin typeface="Trebuchet MS"/>
              </a:defRPr>
            </a:pPr>
            <a:r>
              <a:t>WOMEN IN MEDICINE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639312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alibri"/>
              </a:defRPr>
            </a:pPr>
            <a:r>
              <a:t>Women physicians disproportionately bear admin burden alongside clinical duties. Credentialing delays hit harder when juggling everything.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639312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Partner with She MD, Women in White Coats, MomMD  •  Sponsor women-in-medicine events  •  Feature women physician testimonials  •  Content: "Reclaim 15 hours a year for what matters"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572000"/>
            <a:ext cx="11247120" cy="914400"/>
          </a:xfrm>
          <a:prstGeom prst="round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572000"/>
            <a:ext cx="64008" cy="914400"/>
          </a:xfrm>
          <a:prstGeom prst="rect">
            <a:avLst/>
          </a:prstGeom>
          <a:solidFill>
            <a:srgbClr val="26C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6451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645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6C6AA"/>
                </a:solidFill>
                <a:latin typeface="Trebuchet MS"/>
              </a:defRPr>
            </a:pPr>
            <a:r>
              <a:t>RURAL &amp; LOCUM PHYSICIANS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645152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alibri"/>
              </a:defRPr>
            </a:pPr>
            <a:r>
              <a:t>Locum tenens physicians carry credentials across 5–10+ states. Rural docs often practice in isolation without credentialing support staff.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645152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Multi-state tracking as core selling point  •  Partner with locum agencies  •  Content: "Practicing in 6 states? Track them all."  •  Ads in locum job boards  •  Conference presence at NALTO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577840"/>
            <a:ext cx="11247120" cy="914400"/>
          </a:xfrm>
          <a:prstGeom prst="round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577840"/>
            <a:ext cx="64008" cy="914400"/>
          </a:xfrm>
          <a:prstGeom prst="rect">
            <a:avLst/>
          </a:prstGeom>
          <a:solidFill>
            <a:srgbClr val="26C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6509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🧑‍💻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6509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6C6AA"/>
                </a:solidFill>
                <a:latin typeface="Trebuchet MS"/>
              </a:defRPr>
            </a:pPr>
            <a:r>
              <a:t>DO / OSTEOPATHIC COMMUNITY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650992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alibri"/>
              </a:defRPr>
            </a:pPr>
            <a:r>
              <a:t>DOs have different CME requirements (AOA vs AMA categories) that most tools ignore entirely. CredentialMD has full DO support built in.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650992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AOA conference presence  •  Content: "Finally, an app that knows the difference between Cat 1-A and AMA Cat 1"  •  Partner with AOA student orgs  •  Testimonials from DO physicians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  <a:latin typeface="Trebuchet MS"/>
              </a:defRPr>
            </a:pPr>
            <a:r>
              <a:t>LAUNCH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Trebuchet MS"/>
              </a:defRPr>
            </a:pPr>
            <a:r>
              <a:t>90-Day Grassroots Launch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69748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2697480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Trebuchet MS"/>
              </a:defRPr>
            </a:pPr>
            <a:r>
              <a:t>WEEKS 1–2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• Set up all social accounts with consistent branding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• Create content bank: 30 memes, 10 reels scripts, 5 LinkedIn articles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0040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• Build email list landing page with free state CME checklist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70332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• Recruit 10 physician beta testers for testimonials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• Launch "Coming Soon" teaser campaign across all platforms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554480"/>
            <a:ext cx="269748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554480"/>
            <a:ext cx="2697480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160020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Trebuchet MS"/>
              </a:defRPr>
            </a:pPr>
            <a:r>
              <a:t>WEEKS 3–4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178308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SOFT LAUNCH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19456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• Release app with free tier (no PRO yet, everything free)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69748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• Testimonial blitz: post beta tester stories daily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20040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• Begin humor campaign on Twitter + TikTok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70332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• First LinkedIn article: "Why I built CredentialMD"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20624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• Reddit organic seeding: answer credentialing questions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554480"/>
            <a:ext cx="269748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554480"/>
            <a:ext cx="2697480" cy="457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160020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Trebuchet MS"/>
              </a:defRPr>
            </a:pPr>
            <a:r>
              <a:t>WEEKS 5–8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178308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GROWTH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19456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• Introduce PRO tier at $7.99/mo (grandfathering early users at $5.99)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69748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• Launch referral program: give a month, get a month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20040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• Begin educational YouTube series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70332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• First email newsletter with 500+ subscribers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20624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• Physician ambassador recruitment (target: 25 ambassadors)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1554480"/>
            <a:ext cx="269748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98280" y="1554480"/>
            <a:ext cx="2697480" cy="457200"/>
          </a:xfrm>
          <a:prstGeom prst="rect">
            <a:avLst/>
          </a:prstGeom>
          <a:solidFill>
            <a:srgbClr val="26C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160020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Trebuchet MS"/>
              </a:defRPr>
            </a:pPr>
            <a:r>
              <a:t>WEEKS 9–12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178308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SCALE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219456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• First residency program partnership (target: 3 programs)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269748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• Podcast ad campaign begins (4 shows)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320040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• Urgency campaign aligned with Q2 renewal deadlines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370332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• Community campaign: first physician meetup / virtual event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420624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• Evaluate metrics: 1,000 free users, 200 PRO conversions target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  <a:latin typeface="Trebuchet MS"/>
              </a:defRPr>
            </a:pPr>
            <a:r>
              <a:t>AD COPY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Same Product. Different Voice. Every 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463040"/>
            <a:ext cx="3703320" cy="2468880"/>
          </a:xfrm>
          <a:prstGeom prst="round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3703320" cy="3200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49961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FUNNY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2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alibri"/>
              </a:defRPr>
            </a:pPr>
            <a:r>
              <a:t>"I asked my credentialing coordinator how my renewal was going. She laughed. Then cried. Then retired.</a:t>
            </a:r>
            <a:br/>
            <a:br/>
            <a:r>
              <a:t>CredentialMD. Because someone has to have their life together, and it might as well be your app.</a:t>
            </a:r>
            <a:br/>
            <a:br/>
            <a:r>
              <a:t>$7.99/mo. Less than your hospital cafeteria salad."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463040"/>
            <a:ext cx="3703320" cy="2468880"/>
          </a:xfrm>
          <a:prstGeom prst="round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463040"/>
            <a:ext cx="3703320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49961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PROFESSIONAL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87452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alibri"/>
              </a:defRPr>
            </a:pPr>
            <a:r>
              <a:t>"The average physician maintains 12+ active credentials across multiple states and institutions. Manual tracking leads to lapses, delays, and revenue loss.</a:t>
            </a:r>
            <a:br/>
            <a:br/>
            <a:r>
              <a:t>CredentialMD consolidates your entire credentialing portfolio — with state-specific CME compliance built in.</a:t>
            </a:r>
            <a:br/>
            <a:br/>
            <a:r>
              <a:t>Start free. Upgrade when you're ready."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63040"/>
            <a:ext cx="3703320" cy="2468880"/>
          </a:xfrm>
          <a:prstGeom prst="round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463040"/>
            <a:ext cx="3703320" cy="32004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49961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EMOTIONAL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87452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alibri"/>
              </a:defRPr>
            </a:pPr>
            <a:r>
              <a:t>"You spent 11+ years training to save lives. You shouldn't have to spend another minute wondering if your paperwork is going to end your career.</a:t>
            </a:r>
            <a:br/>
            <a:br/>
            <a:r>
              <a:t>CredentialMD keeps everything current so you can focus on what matters.</a:t>
            </a:r>
            <a:br/>
            <a:br/>
            <a:r>
              <a:t>Because you became a doctor to help people, not manage spreadsheets."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4114800"/>
            <a:ext cx="3703320" cy="2468880"/>
          </a:xfrm>
          <a:prstGeom prst="round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114800"/>
            <a:ext cx="3703320" cy="320040"/>
          </a:xfrm>
          <a:prstGeom prst="rect">
            <a:avLst/>
          </a:prstGeom>
          <a:solidFill>
            <a:srgbClr val="F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415137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URGENT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2628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alibri"/>
              </a:defRPr>
            </a:pPr>
            <a:r>
              <a:t>"Right now, 1 in 5 physicians has at least one credential expiring in the next 90 days.</a:t>
            </a:r>
            <a:br/>
            <a:br/>
            <a:r>
              <a:t>Are you one of them? Do you even know?</a:t>
            </a:r>
            <a:br/>
            <a:br/>
            <a:r>
              <a:t>CredentialMD does. Try it free. Find out in 30 seconds.</a:t>
            </a:r>
            <a:br/>
            <a:br/>
            <a:r>
              <a:t>credentialmd.com"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4114800"/>
            <a:ext cx="3703320" cy="2468880"/>
          </a:xfrm>
          <a:prstGeom prst="round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06240" y="4114800"/>
            <a:ext cx="3703320" cy="3200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415137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CASUAL / GEN 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52628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alibri"/>
              </a:defRPr>
            </a:pPr>
            <a:r>
              <a:t>"bestie your DEA expires next month and you're out here doing grand rounds like nothing's wrong 💀</a:t>
            </a:r>
            <a:br/>
            <a:br/>
            <a:r>
              <a:t>get CredentialMD before your program director finds out before you do</a:t>
            </a:r>
            <a:br/>
            <a:br/>
            <a:r>
              <a:t>it's like $8/mo which is literally one oat milk latte</a:t>
            </a:r>
            <a:br/>
            <a:br/>
            <a:r>
              <a:t>link in bio ✨"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4114800"/>
            <a:ext cx="3703320" cy="2468880"/>
          </a:xfrm>
          <a:prstGeom prst="round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4114800"/>
            <a:ext cx="3703320" cy="320040"/>
          </a:xfrm>
          <a:prstGeom prst="rect">
            <a:avLst/>
          </a:prstGeom>
          <a:solidFill>
            <a:srgbClr val="26C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415137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COMMUNITY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52628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alibri"/>
              </a:defRPr>
            </a:pPr>
            <a:r>
              <a:t>"When Dr. Patel told me about CredentialMD, I thought 'great, another app.' Then I realized I had a CME deadline in 3 weeks I didn't know about.</a:t>
            </a:r>
            <a:br/>
            <a:br/>
            <a:r>
              <a:t>Now I tell every physician I know.</a:t>
            </a:r>
            <a:br/>
            <a:br/>
            <a:r>
              <a:t>Give a month, get a month. Share CredentialMD with a colleague who needs it."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914400"/>
            <a:ext cx="2743200" cy="2743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-914400"/>
            <a:ext cx="2743200" cy="2743200"/>
          </a:xfrm>
          <a:prstGeom prst="rect">
            <a:avLst/>
          </a:prstGeom>
          <a:solidFill>
            <a:srgbClr val="0B1D2E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-1371600" y="4572000"/>
            <a:ext cx="3657600" cy="3657600"/>
          </a:xfrm>
          <a:prstGeom prst="rect">
            <a:avLst/>
          </a:prstGeom>
          <a:solidFill>
            <a:srgbClr val="0B1D2E">
              <a:alpha val="1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  <a:latin typeface="Trebuchet MS"/>
              </a:defRPr>
            </a:pPr>
            <a:r>
              <a:t>90-DAY SUCCESS METRICS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97280"/>
            <a:ext cx="2606040" cy="1463040"/>
          </a:xfrm>
          <a:prstGeom prst="round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9688"/>
                </a:solidFill>
                <a:latin typeface="Trebuchet MS"/>
              </a:defRPr>
            </a:pPr>
            <a:r>
              <a:t>1,000+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74519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Free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488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Organic acquisition via content + referrals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097280"/>
            <a:ext cx="2606040" cy="1463040"/>
          </a:xfrm>
          <a:prstGeom prst="round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23444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9688"/>
                </a:solidFill>
                <a:latin typeface="Trebuchet MS"/>
              </a:defRPr>
            </a:pPr>
            <a:r>
              <a:t>200+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874519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PRO Conversions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1488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20% free-to-paid at $7.99/mo = $1,600 MRR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097280"/>
            <a:ext cx="2606040" cy="1463040"/>
          </a:xfrm>
          <a:prstGeom prst="round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23444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9688"/>
                </a:solidFill>
                <a:latin typeface="Trebuchet MS"/>
              </a:defRPr>
            </a:pPr>
            <a:r>
              <a:t>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1874519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Ambassadors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1488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Across specialties, posting monthly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1097280"/>
            <a:ext cx="2606040" cy="1463040"/>
          </a:xfrm>
          <a:prstGeom prst="round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0" y="123444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9688"/>
                </a:solidFill>
                <a:latin typeface="Trebuchet MS"/>
              </a:defRPr>
            </a:pPr>
            <a:r>
              <a:t>10K+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1874519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Social Followers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1488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Combined across all platforms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017520"/>
            <a:ext cx="182880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291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"I don't really care about how much money I can extract from the individual,</a:t>
            </a:r>
            <a:br/>
            <a:r>
              <a:t>but rather how much value can I add to their life."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6B"/>
                </a:solidFill>
                <a:latin typeface="Calibri"/>
              </a:defRPr>
            </a:pPr>
            <a:r>
              <a:t>— Eric, Founder of CredentialMD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846320"/>
            <a:ext cx="10515600" cy="1371600"/>
          </a:xfrm>
          <a:prstGeom prst="round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4846320"/>
            <a:ext cx="64008" cy="13716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029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  <a:latin typeface="Trebuchet MS"/>
              </a:defRPr>
            </a:pPr>
            <a:r>
              <a:t>THE BOTTOM 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4864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E2E8F0"/>
                </a:solidFill>
                <a:latin typeface="Calibri"/>
              </a:defRPr>
            </a:pPr>
            <a:r>
              <a:t>CredentialMD enters a fragmented market with no true competitor doing what we do. Our pricing undercuts everyone while delivering more value.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E2E8F0"/>
                </a:solidFill>
                <a:latin typeface="Calibri"/>
              </a:defRPr>
            </a:pPr>
            <a:r>
              <a:t>This isn't about building a SaaS unicorn. It's about building something every physician in America needs, and pricing it so they never hesitate to say yes.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